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eeb3f0bcc415e" /><Relationship Type="http://schemas.openxmlformats.org/officeDocument/2006/relationships/extended-properties" Target="/docProps/app.xml" Id="R74f69ef366e34d04" /><Relationship Type="http://schemas.openxmlformats.org/officeDocument/2006/relationships/officeDocument" Target="/ppt/presentation.xml" Id="Rf8bd4b80ecdd40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f005d9d57a4913"/>
  </p:sldMasterIdLst>
  <p:notesMasterIdLst>
    <p:notesMasterId xmlns:r="http://schemas.openxmlformats.org/officeDocument/2006/relationships" r:id="R2363245c7ebe4691"/>
  </p:notesMasterIdLst>
  <p:sldIdLst>
    <p:sldId xmlns:r="http://schemas.openxmlformats.org/officeDocument/2006/relationships" id="256" r:id="R62681cf053a741b1"/>
    <p:sldId xmlns:r="http://schemas.openxmlformats.org/officeDocument/2006/relationships" id="257" r:id="Rd3dfac688c59457b"/>
    <p:sldId xmlns:r="http://schemas.openxmlformats.org/officeDocument/2006/relationships" id="258" r:id="Rbd53208a340e47a0"/>
    <p:sldId xmlns:r="http://schemas.openxmlformats.org/officeDocument/2006/relationships" id="259" r:id="R89856f3d45934659"/>
    <p:sldId xmlns:r="http://schemas.openxmlformats.org/officeDocument/2006/relationships" id="260" r:id="Reef9904245e14c77"/>
    <p:sldId xmlns:r="http://schemas.openxmlformats.org/officeDocument/2006/relationships" id="261" r:id="R7cf014420f2646a8"/>
    <p:sldId xmlns:r="http://schemas.openxmlformats.org/officeDocument/2006/relationships" id="262" r:id="R9a079776af784cbd"/>
    <p:sldId xmlns:r="http://schemas.openxmlformats.org/officeDocument/2006/relationships" id="263" r:id="R99488035f2404f59"/>
    <p:sldId xmlns:r="http://schemas.openxmlformats.org/officeDocument/2006/relationships" id="264" r:id="R9d28cbf8447445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d968dd92344a6" /><Relationship Type="http://schemas.openxmlformats.org/officeDocument/2006/relationships/slideMaster" Target="/ppt/slideMasters/slideMaster1.xml" Id="Rc5f005d9d57a4913" /><Relationship Type="http://schemas.openxmlformats.org/officeDocument/2006/relationships/notesMaster" Target="/ppt/notesMasters/notesMaster1.xml" Id="R2363245c7ebe4691" /><Relationship Type="http://schemas.openxmlformats.org/officeDocument/2006/relationships/presProps" Target="/ppt/presProps.xml" Id="Rdfb4cb1d7e804f4a" /><Relationship Type="http://schemas.openxmlformats.org/officeDocument/2006/relationships/viewProps" Target="/ppt/viewProps.xml" Id="R471a3ce425c24aba" /><Relationship Type="http://schemas.openxmlformats.org/officeDocument/2006/relationships/tableStyles" Target="/ppt/tableStyles.xml" Id="R59a04651ae064310" /><Relationship Type="http://schemas.openxmlformats.org/officeDocument/2006/relationships/slide" Target="/ppt/slides/slide1.xml" Id="R62681cf053a741b1" /><Relationship Type="http://schemas.openxmlformats.org/officeDocument/2006/relationships/slide" Target="/ppt/slides/slide2.xml" Id="Rd3dfac688c59457b" /><Relationship Type="http://schemas.openxmlformats.org/officeDocument/2006/relationships/slide" Target="/ppt/slides/slide3.xml" Id="Rbd53208a340e47a0" /><Relationship Type="http://schemas.openxmlformats.org/officeDocument/2006/relationships/slide" Target="/ppt/slides/slide4.xml" Id="R89856f3d45934659" /><Relationship Type="http://schemas.openxmlformats.org/officeDocument/2006/relationships/slide" Target="/ppt/slides/slide5.xml" Id="Reef9904245e14c77" /><Relationship Type="http://schemas.openxmlformats.org/officeDocument/2006/relationships/slide" Target="/ppt/slides/slide6.xml" Id="R7cf014420f2646a8" /><Relationship Type="http://schemas.openxmlformats.org/officeDocument/2006/relationships/slide" Target="/ppt/slides/slide7.xml" Id="R9a079776af784cbd" /><Relationship Type="http://schemas.openxmlformats.org/officeDocument/2006/relationships/slide" Target="/ppt/slides/slide8.xml" Id="R99488035f2404f59" /><Relationship Type="http://schemas.openxmlformats.org/officeDocument/2006/relationships/slide" Target="/ppt/slides/slide9.xml" Id="R9d28cbf8447445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f7ac96b1943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5a8ad24464ff6" /><Relationship Type="http://schemas.openxmlformats.org/officeDocument/2006/relationships/notesMaster" Target="/ppt/notesMasters/notesMaster1.xml" Id="R438642b724444e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5242d60c4453b" /><Relationship Type="http://schemas.openxmlformats.org/officeDocument/2006/relationships/notesMaster" Target="/ppt/notesMasters/notesMaster1.xml" Id="R5f108ca155834f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fb033aa3c8477a" /><Relationship Type="http://schemas.openxmlformats.org/officeDocument/2006/relationships/notesMaster" Target="/ppt/notesMasters/notesMaster1.xml" Id="R16b2e37b7d1b40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705ab1f1a34418" /><Relationship Type="http://schemas.openxmlformats.org/officeDocument/2006/relationships/notesMaster" Target="/ppt/notesMasters/notesMaster1.xml" Id="Rf977417b8dfe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97b63a7a97443e" /><Relationship Type="http://schemas.openxmlformats.org/officeDocument/2006/relationships/notesMaster" Target="/ppt/notesMasters/notesMaster1.xml" Id="Re91faae4a97045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7e38480ad14141" /><Relationship Type="http://schemas.openxmlformats.org/officeDocument/2006/relationships/notesMaster" Target="/ppt/notesMasters/notesMaster1.xml" Id="Rd37429efda0146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b42c8105f14eda" /><Relationship Type="http://schemas.openxmlformats.org/officeDocument/2006/relationships/notesMaster" Target="/ppt/notesMasters/notesMaster1.xml" Id="Rf3c61387e0014c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85e71d9d78423e" /><Relationship Type="http://schemas.openxmlformats.org/officeDocument/2006/relationships/notesMaster" Target="/ppt/notesMasters/notesMaster1.xml" Id="R4f1d5625d66746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810718a4aa4ae9" /><Relationship Type="http://schemas.openxmlformats.org/officeDocument/2006/relationships/notesMaster" Target="/ppt/notesMasters/notesMaster1.xml" Id="Rd9629f1ad03d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cover pages of the supplied Phase2_Report_RL_Battery_Thermal_Management (1).docx and MidTerm_Evaluation_Report_RL_Battery_Thermal_Management.docx.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Phase-II report, Introduction and Sections 1.1, 1.6–1.7, 3.3. RL means reinforcement learning. PID means proportional-integral-derivative control. SDV means software-defined vehicle. The energy benefit is a research objective.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Phase-II report, Sections 3.1–3.4 and Figures 1 and 4. Original architecture and MDP images retained from the supplied PPT. The depicted SDV platform is conceptual. MDP means Markov decision process.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Phase-II report, Sections 1.2–1.3, 2.5 and 4.2. Mid-term report, Section 2.2, identifies synthetic drive-cycle inputs as a current limitation.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Phase-II report, Section 1.4. Mid-term report, Section 1, specifies five discrete cooling levels and identifies reward re-tuning. Its viva section describes a weighted penalty rather than a hard constraint. C-rate expresses charge/discharge current relative to battery capacity.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Phase-II report, Sections 1.5–1.7 and 2.5. Metric distinction follows the quantities in Phase-II Section 1.7 and Mid-term Section 3.1: inter-cell temperature difference is not dT/dt. MPC means model predictive control.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Mid-term report, Sections 1, 2.1 and 2.2. These are the implementation statuses reported in that document. SDV feasibility scope: Phase-II Section 3.3.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PPT slide 8, Phase-II Sections 2.5, 3.3 and 4.2, and Mid-term Sections 2.2 and 3.1. MPC remains conditional on feasibility.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reports, title pages.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522e0cf6f4b9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03e46b78414826" /><Relationship Type="http://schemas.openxmlformats.org/officeDocument/2006/relationships/slideLayout" Target="/ppt/slideLayouts/slideLayout1.xml" Id="Rd069d035d6cc42a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69d035d6cc42a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253dabf734173" /><Relationship Type="http://schemas.openxmlformats.org/officeDocument/2006/relationships/notesSlide" Target="/ppt/notesSlides/notesSlide1.xml" Id="Ra162ebdf074643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cc6b895a74360" /><Relationship Type="http://schemas.openxmlformats.org/officeDocument/2006/relationships/notesSlide" Target="/ppt/notesSlides/notesSlide2.xml" Id="Rec0f0243286645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20b50f22940eb" /><Relationship Type="http://schemas.openxmlformats.org/officeDocument/2006/relationships/image" Target="/ppt/media/image.png" Id="R393833214acf4895" /><Relationship Type="http://schemas.openxmlformats.org/officeDocument/2006/relationships/image" Target="/ppt/media/image2.png" Id="R30d58335a6e34ff4" /><Relationship Type="http://schemas.openxmlformats.org/officeDocument/2006/relationships/notesSlide" Target="/ppt/notesSlides/notesSlide3.xml" Id="R4f9c2fdd55874b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dfdcd488c462b" /><Relationship Type="http://schemas.openxmlformats.org/officeDocument/2006/relationships/notesSlide" Target="/ppt/notesSlides/notesSlide4.xml" Id="Rd951816b0ed745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554fe5c9d4c03" /><Relationship Type="http://schemas.openxmlformats.org/officeDocument/2006/relationships/notesSlide" Target="/ppt/notesSlides/notesSlide5.xml" Id="Rd2f295d5c05e40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0b9036b694b65" /><Relationship Type="http://schemas.openxmlformats.org/officeDocument/2006/relationships/notesSlide" Target="/ppt/notesSlides/notesSlide6.xml" Id="R06bd61e9fe354a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83b06090d4f00" /><Relationship Type="http://schemas.openxmlformats.org/officeDocument/2006/relationships/notesSlide" Target="/ppt/notesSlides/notesSlide7.xml" Id="R1ff849372bb544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749216407419e" /><Relationship Type="http://schemas.openxmlformats.org/officeDocument/2006/relationships/notesSlide" Target="/ppt/notesSlides/notesSlide8.xml" Id="R3c2213e0cdf5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ae7cf622d46b5" /><Relationship Type="http://schemas.openxmlformats.org/officeDocument/2006/relationships/notesSlide" Target="/ppt/notesSlides/notesSlide9.xml" Id="Rfbaa98bf2b7841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ED04498-F1E2-4BC7-B3FE-10436B0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64592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2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9512D44-5FE8-48A9-9213-7957C21A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3040" y="4663440"/>
            <a:ext cx="4023360" cy="402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18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07C002-89ED-4769-9686-665A3578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F4743B"/>
                </a:solidFill>
                <a:latin typeface="Calibri"/>
                <a:ea typeface="Calibri"/>
                <a:cs typeface="Calibri"/>
              </a:rPr>
              <a:t>RL-BASED DYNAMIC BATTERY THERMAL MANAGEMENT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D50731-AC84-4373-8755-2EEE3476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10058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Reinforcement Learning for Adaptive EV Battery Cooling in Software Defined Vehicles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BC3671F-8AB4-4A7E-9806-41099B00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FE6EC"/>
                </a:solidFill>
                <a:latin typeface="Calibri"/>
                <a:ea typeface="Calibri"/>
                <a:cs typeface="Calibri"/>
              </a:rPr>
              <a:t>Rebuilt implementation and results
B.Tech Major Project, Session 2026-27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8D4C9C1-C313-421B-8E76-E5FBA69A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4743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69CE79-E9A7-4B15-9B48-734E5A0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Rishuraj Singh (2410030738)   •   Nihaal Sansanwal (2410031372)   •   Harshit Parmar (2410031422)   •   Chaitanya Sharma (2410031341)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D9636F-035D-44F4-B6D0-B7BAD4C0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CFE6EC"/>
                </a:solidFill>
                <a:latin typeface="Calibri"/>
                <a:ea typeface="Calibri"/>
                <a:cs typeface="Calibri"/>
              </a:rPr>
              <a:t>Under the guidance of Dr. Pranav Srivastava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D8FE6BE-E8C3-4978-822C-4177D46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350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AAB3"/>
                </a:solidFill>
                <a:latin typeface="Calibri"/>
                <a:ea typeface="Calibri"/>
                <a:cs typeface="Calibri"/>
              </a:rPr>
              <a:t>School of Computer Science and Engineering  •  IILM University, Greater Noida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29751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8D472B-56FB-42B4-A0E8-2282E69D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4743B"/>
                </a:solidFill>
                <a:latin typeface="Calibri"/>
                <a:ea typeface="Calibri"/>
                <a:cs typeface="Calibri"/>
              </a:rPr>
              <a:t>PROJECT OVERVIEW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3DAB56-F236-4B8C-8782-7C92EC1E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2E3A"/>
                </a:solidFill>
                <a:latin typeface="Cambria"/>
                <a:ea typeface="Cambria"/>
                <a:cs typeface="Cambria"/>
              </a:rPr>
              <a:t>Adaptive cooling for an EV battery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5FD1A2D-2AE6-4148-9108-59D39E7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263640" cy="4572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1C2833">
                <a:alpha val="15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0B6D35-6170-45B6-8C73-D638582C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566928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 sz="150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A software simulation will model battery temperature under driving and charging demand. An RL agent will learn how much cooling to apply from the current battery and operating conditions.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7360233-0188-41C3-8459-995E8262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188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A220D1D-18F0-4AA6-92D8-5424BD75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904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743B"/>
                </a:solidFill>
                <a:latin typeface="Calibri"/>
                <a:ea typeface="Calibri"/>
                <a:cs typeface="Calibri"/>
              </a:rPr>
              <a:t>Research objective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A9D59C-CA0C-475B-A02F-FD775523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56692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Test whether an RL controller can reduce auxiliary cooling energy compared with a PID baseline while keeping temperature within the chosen limits. Any improvement must be established through evaluation.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CD32AC9-A2FC-4248-BB17-3D80C89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554480"/>
            <a:ext cx="45262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545B55-92C9-4A5F-BA3C-7119EE9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91640"/>
            <a:ext cx="3977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Temperature</a:t>
            </a:r>
            <a:endParaRPr sz="2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44D469-B947-47FB-9FDA-22CB3B31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404872"/>
            <a:ext cx="3977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6EC"/>
                </a:solidFill>
                <a:latin typeface="Calibri"/>
                <a:ea typeface="Calibri"/>
                <a:cs typeface="Calibri"/>
              </a:rPr>
              <a:t>Aim to keep the battery within a defined operating band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168815-7A34-41F8-988C-795A1F4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154680"/>
            <a:ext cx="45262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C729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832E483-4159-43C0-8049-AAF4211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291840"/>
            <a:ext cx="3977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Cooling energy</a:t>
            </a:r>
            <a:endParaRPr sz="2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2F3073-6645-4A37-ADD6-5CC7F45D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005072"/>
            <a:ext cx="3977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 the energy used by the cooling system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D984379-B889-48CE-88C5-BD80CD26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754880"/>
            <a:ext cx="452628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743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D0AC4A2-C30E-4FA3-AD9A-B1122FBC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892040"/>
            <a:ext cx="3977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SDV scope</a:t>
            </a:r>
            <a:endParaRPr sz="2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C61F1EF-6860-4A09-985D-18F5B64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559552"/>
            <a:ext cx="3977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Study software deployment feasibility after simulation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F6BE68-3889-4EAA-A758-A189EAF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7480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76259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1BA017-A33B-4DC6-BF79-18B45D7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4743B"/>
                </a:solidFill>
                <a:latin typeface="Calibri"/>
                <a:ea typeface="Calibri"/>
                <a:cs typeface="Calibri"/>
              </a:rPr>
              <a:t>SYSTEM DESIGN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B6A339-79C9-4335-8EB9-DA40EBE2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2E3A"/>
                </a:solidFill>
                <a:latin typeface="Cambria"/>
                <a:ea typeface="Cambria"/>
                <a:cs typeface="Cambria"/>
              </a:rPr>
              <a:t>Closed-loop architecture and RL interaction</a:t>
            </a:r>
            <a:endParaRPr sz="2900"/>
          </a:p>
        </p:txBody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833214acf4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00200"/>
            <a:ext cx="6126480" cy="3777115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1508D2B-4FED-4157-8D71-328915F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0467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5B7480"/>
                </a:solidFill>
                <a:latin typeface="Calibri"/>
                <a:ea typeface="Calibri"/>
                <a:cs typeface="Calibri"/>
              </a:rPr>
              <a:t>Fig. 1 — System architecture</a:t>
            </a:r>
            <a:endParaRPr sz="1100"/>
          </a:p>
        </p:txBody>
      </p:sp>
      <p:pic>
        <p:nvPicPr>
          <p:cNvPr id="1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58335a6e34f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2280" y="2011680"/>
            <a:ext cx="4892040" cy="24694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303C0BF-D133-4001-B61F-437EB9A7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554312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5B7480"/>
                </a:solidFill>
                <a:latin typeface="Calibri"/>
                <a:ea typeface="Calibri"/>
                <a:cs typeface="Calibri"/>
              </a:rPr>
              <a:t>Fig. 4 — MDP loop (state, action, reward)</a:t>
            </a:r>
            <a:endParaRPr sz="11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BD75550-3189-47EE-B9BC-63A6FF6C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074920"/>
            <a:ext cx="4892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 i="1">
                <a:solidFill>
                  <a:srgbClr val="5B7480"/>
                </a:solidFill>
                <a:latin typeface="Calibri"/>
                <a:ea typeface="Calibri"/>
                <a:cs typeface="Calibri"/>
              </a:rPr>
              <a:t>At each step, the agent observes the battery state and selects cooling effort. The model returns the next state and a reward. The reward updates the policy during training. SDV deployment remains a feasibility study.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05DCA4C-8426-42AF-8006-ACD82678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7480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17867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7E0B3-0414-400A-9432-DA98D30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03C"/>
                </a:solidFill>
                <a:latin typeface="Cambria"/>
                <a:ea typeface="Cambria"/>
                <a:cs typeface="Cambria"/>
              </a:defRPr>
            </a:pPr>
            <a:r>
              <a:rPr sz="2850" b="1">
                <a:solidFill>
                  <a:srgbClr val="0D303C"/>
                </a:solidFill>
                <a:latin typeface="Cambria"/>
                <a:ea typeface="Cambria"/>
                <a:cs typeface="Cambria"/>
              </a:rPr>
              <a:t>Rebuilt plant and simulation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2141A-079E-4B60-9F4C-F3701A28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717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717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888CF-1516-434C-9694-DBAA4931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01  Model the pack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D7BB9-7CEF-428A-AB7E-709732A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709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Use an equivalent-circuit electrical model and four thermal nodes to simulate state of charge, heat and true spatial temperature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FBB75-F824-4DE7-9B18-51B04217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02  Check model behaviour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418D6-B10D-4FF6-8DFF-52506D0E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709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A PyBaMM SPMe cross-check supports electrical lookup values. Thermal conductances remain engineering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88FAA-E4C8-4F0C-9C06-E2642FF4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03  Build the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22B16-C37F-407B-8BF9-87CDCD5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709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The Gymnasium environment uses independent continuous pump, fan and chiller commands with a supervisory shield.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B87C4-3021-4A56-A7C7-9B680D7B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04  Prepare driving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D38DB-8D0F-4253-9DF5-FA29ABE7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709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Real UDDS, HWFET, US06, ECE and EUDC traces are loaded with source URLs and hashes.</a:t>
            </a:r>
          </a:p>
        </p:txBody>
      </p:sp>
    </p:spTree>
    <p:extLst>
      <p:ext uri="{BB962C8B-B14F-4D97-AF65-F5344CB8AC3E}">
        <p14:creationId xmlns:p14="http://schemas.microsoft.com/office/powerpoint/2010/main" val="1950545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BAA3F-E18F-46B8-B4DE-EB76473B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03C"/>
                </a:solidFill>
                <a:latin typeface="Cambria"/>
                <a:ea typeface="Cambria"/>
                <a:cs typeface="Cambria"/>
              </a:defRPr>
            </a:pPr>
            <a:r>
              <a:rPr sz="2850" b="1">
                <a:solidFill>
                  <a:srgbClr val="0D303C"/>
                </a:solidFill>
                <a:latin typeface="Cambria"/>
                <a:ea typeface="Cambria"/>
                <a:cs typeface="Cambria"/>
              </a:rPr>
              <a:t>Rebuilt state action and reward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7CB46-3C90-4C4C-8464-EE419BC2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717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717D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0AADD-B21C-4C62-8F1D-C87225C6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9E2C9-9533-490C-BDA5-B0F7684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Four pack-node temperatures, state of charge, C-rate, ambient, operating mode and demand preview.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B08B9-F6C7-4AE0-ACFB-79BCBB93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CDFB1-9C0B-4C90-82DC-C9D67B01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Independent continuous pump, fan and chiller commands coordinate coolant flow, radiator heat rejection and chiller cooling.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B7A18-812D-40EC-B2FE-48FA1CF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Reward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608BA-3966-4B47-8FEA-44CA5E52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Penalise temperature-band violation, true spatial delta T, auxiliary energy and relative aging exposure.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29AED-3A7C-49CB-BEFF-D917FBD5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02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717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717D"/>
                </a:solidFill>
                <a:latin typeface="Calibri"/>
                <a:ea typeface="Calibri"/>
                <a:cs typeface="Calibri"/>
              </a:rPr>
              <a:t>A supervisory shield provides measured intervention; reward penalties alone do not guarantee safety.</a:t>
            </a:r>
          </a:p>
        </p:txBody>
      </p:sp>
    </p:spTree>
    <p:extLst>
      <p:ext uri="{BB962C8B-B14F-4D97-AF65-F5344CB8AC3E}">
        <p14:creationId xmlns:p14="http://schemas.microsoft.com/office/powerpoint/2010/main" val="1806333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0BB6B-7724-4C28-99EC-C2B869D4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03C"/>
                </a:solidFill>
                <a:latin typeface="Cambria"/>
                <a:ea typeface="Cambria"/>
                <a:cs typeface="Cambria"/>
              </a:defRPr>
            </a:pPr>
            <a:r>
              <a:rPr sz="2850" b="1">
                <a:solidFill>
                  <a:srgbClr val="0D303C"/>
                </a:solidFill>
                <a:latin typeface="Cambria"/>
                <a:ea typeface="Cambria"/>
                <a:cs typeface="Cambria"/>
              </a:rPr>
              <a:t>Training and fixed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40CB7-2201-49FE-871C-2788D76F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717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717D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82EDC-AF37-4CF4-A307-7991CF4C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Training completed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9CA94-B31E-49D9-80E7-6763114E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8577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PPO, SAC and TD3 trained for 20,000 environment steps each across five seeds on the mixed scenario.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1C99D-36A4-4CBC-9AFE-1B63F33F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Fixed controller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5F0CF-277D-4B7A-9944-123C7B88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4953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The same eight held-out episodes compare learned policies with tuned PID, bang-bang, null and sampling MPC, with and without the shield.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BCCA5-F9BD-4044-83E2-FFA2CFB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62F43-49A5-4FE9-B224-901760C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D303C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D303C"/>
                </a:solidFill>
                <a:latin typeface="Calibri"/>
                <a:ea typeface="Calibri"/>
                <a:cs typeface="Calibri"/>
              </a:rPr>
              <a:t>Report time outside band, true spatial delta T, auxiliary energy, aging exposure and shield firing rate. The temporal rate proxy is retired.</a:t>
            </a:r>
          </a:p>
        </p:txBody>
      </p:sp>
    </p:spTree>
    <p:extLst>
      <p:ext uri="{BB962C8B-B14F-4D97-AF65-F5344CB8AC3E}">
        <p14:creationId xmlns:p14="http://schemas.microsoft.com/office/powerpoint/2010/main" val="1511598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F1FFD2-DE17-43B2-BE6B-5D8B3959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4743B"/>
                </a:solidFill>
                <a:latin typeface="Calibri"/>
                <a:ea typeface="Calibri"/>
                <a:cs typeface="Calibri"/>
              </a:rPr>
              <a:t>REBUILT RESULTS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F192D4-0AA2-41DA-9F95-4A750543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2E3A"/>
                </a:solidFill>
                <a:latin typeface="Cambria"/>
                <a:ea typeface="Cambria"/>
                <a:cs typeface="Cambria"/>
              </a:rPr>
              <a:t>What the evidence supports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286E80-614E-4F5C-B5A8-ACE09130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5440680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9F5693-624B-4735-8125-E6D5EE1C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10512"/>
            <a:ext cx="384048" cy="384048"/>
          </a:xfrm>
          <a:prstGeom xmlns:a="http://schemas.openxmlformats.org/drawingml/2006/main" prst="roundRect">
            <a:avLst>
              <a:gd name="adj" fmla="val 119048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5AF013-6A4F-4B79-BC78-2EDCCF43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105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BE2BF5-2AA1-4693-982B-A1AD8B43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92224"/>
            <a:ext cx="4434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B2E3A"/>
                </a:solidFill>
                <a:latin typeface="Calibri"/>
                <a:ea typeface="Calibri"/>
                <a:cs typeface="Calibri"/>
              </a:rPr>
              <a:t>Rebuilt environment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CD4E831-CD19-4CED-A38E-9BC90CCD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31720"/>
            <a:ext cx="492861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The rebuilt study uses four thermal nodes, three continuous actuators, real traces and a null-controller hardness gate.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E465E13-42C5-41F9-9393-4D595672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54480"/>
            <a:ext cx="5440680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BCACB7F-BB19-4AA0-8E00-DF602023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10512"/>
            <a:ext cx="384048" cy="384048"/>
          </a:xfrm>
          <a:prstGeom xmlns:a="http://schemas.openxmlformats.org/drawingml/2006/main" prst="roundRect">
            <a:avLst>
              <a:gd name="adj" fmla="val 119048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DD289BE-FC7F-461A-B3B4-CA3927A7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105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71CECB1-96D4-4F59-810A-A0BE690F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2224"/>
            <a:ext cx="4434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B2E3A"/>
                </a:solidFill>
                <a:latin typeface="Calibri"/>
                <a:ea typeface="Calibri"/>
                <a:cs typeface="Calibri"/>
              </a:rPr>
              <a:t>Deep RL completed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4396865-1B55-45CB-808C-60960780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331720"/>
            <a:ext cx="492861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PPO, SAC and TD3 trained across five seeds. The tuned PID has lower shielded mean cost than the learned policies at this budget.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C8B4785-25B6-44F9-86C0-C14138F2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440680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D653944-664C-4F81-BAA5-3C08BD0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33672"/>
            <a:ext cx="384048" cy="384048"/>
          </a:xfrm>
          <a:prstGeom xmlns:a="http://schemas.openxmlformats.org/drawingml/2006/main" prst="roundRect">
            <a:avLst>
              <a:gd name="adj" fmla="val 119048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6365B2B-78B6-4726-91E5-539690A1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3367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6AA8D8-E68C-4866-B1F6-3AAA9FA3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15384"/>
            <a:ext cx="4434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B2E3A"/>
                </a:solidFill>
                <a:latin typeface="Calibri"/>
                <a:ea typeface="Calibri"/>
                <a:cs typeface="Calibri"/>
              </a:rPr>
              <a:t>Safety result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31B36C3-8D0F-4D06-A5ED-886ACB4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54880"/>
            <a:ext cx="492861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Without the shield, learned policies violate the band for more than 41% of evaluated time. With it, violations are zero but interventions occur in about 20% of steps.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4790B09-A24D-4F7A-80C7-BA7D72F6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77640"/>
            <a:ext cx="5440680" cy="214884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E8929CA-4D49-4638-B610-BC2196C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233672"/>
            <a:ext cx="384048" cy="384048"/>
          </a:xfrm>
          <a:prstGeom xmlns:a="http://schemas.openxmlformats.org/drawingml/2006/main" prst="roundRect">
            <a:avLst>
              <a:gd name="adj" fmla="val 119048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173A573-52E7-44EF-AEF2-C26AA84D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23367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9F98CAA-726C-4F82-9D18-A9ED8E68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5384"/>
            <a:ext cx="4434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B2E3A"/>
                </a:solidFill>
                <a:latin typeface="Calibri"/>
                <a:ea typeface="Calibri"/>
                <a:cs typeface="Calibri"/>
              </a:rPr>
              <a:t>Deployment result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319985F-C1AA-457C-BF55-B191300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754880"/>
            <a:ext cx="492861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ONNX SAC measured 0.017 ms median on the laptop CPU; sampling MPC measured 228.949 ms. These values do not certify an automotive ECU.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CF45B74-4278-4115-886F-D5CBDBCF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7480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30882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370DA48-52FB-45AF-941F-C9320C2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4743B"/>
                </a:solidFill>
                <a:latin typeface="Calibri"/>
                <a:ea typeface="Calibri"/>
                <a:cs typeface="Calibri"/>
              </a:rPr>
              <a:t>WORK REMAINING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A0B06E-EC12-418E-AF39-097BA943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2E3A"/>
                </a:solidFill>
                <a:latin typeface="Cambria"/>
                <a:ea typeface="Cambria"/>
                <a:cs typeface="Cambria"/>
              </a:rPr>
              <a:t>Evidence-led next steps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0EBFDE-988B-4E82-86A2-C3122714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611880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5F1F64-6B32-4AF4-AFDB-DE01919F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4743B"/>
                </a:solidFill>
                <a:latin typeface="Cambria"/>
                <a:ea typeface="Cambria"/>
                <a:cs typeface="Cambria"/>
              </a:rPr>
              <a:t>01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C2784B-2FF4-42AA-8920-7790470F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58568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Measured pack validation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2624D9-46F3-4167-BAA1-D5FD79AD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CFE6EC"/>
                </a:solidFill>
                <a:latin typeface="Calibri"/>
                <a:ea typeface="Calibri"/>
                <a:cs typeface="Calibri"/>
              </a:rPr>
              <a:t>Validate thermal conductances and pack thermal mass against measured hardware data.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956BCB-E327-437E-98B9-0D93CA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3611880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8C1C96-69BF-43B8-AAA5-969CE7C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830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4743B"/>
                </a:solidFill>
                <a:latin typeface="Cambria"/>
                <a:ea typeface="Cambria"/>
                <a:cs typeface="Cambria"/>
              </a:rPr>
              <a:t>02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6112A8C-B27A-455C-9CF2-23E07F30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568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Longer training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5C4AF08-8D49-4AC2-9139-ECA7A04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CFE6EC"/>
                </a:solidFill>
                <a:latin typeface="Calibri"/>
                <a:ea typeface="Calibri"/>
                <a:cs typeface="Calibri"/>
              </a:rPr>
              <a:t>Increase training budgets and seeds before drawing a policy-quality conclusion.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F86A4F1-054A-46A2-8EA2-7DEE3287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00200"/>
            <a:ext cx="3611880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B2E3A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A48F3E-AB0D-409E-81CE-BE8C4D54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7830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4743B"/>
                </a:solidFill>
                <a:latin typeface="Cambria"/>
                <a:ea typeface="Cambria"/>
                <a:cs typeface="Cambria"/>
              </a:rPr>
              <a:t>03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4C402D5-0266-4E77-8CF1-8373DF2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258568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Safety verification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9F33D7F-E55B-4E0E-ACCA-C6F42906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3464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CFE6EC"/>
                </a:solidFill>
                <a:latin typeface="Calibri"/>
                <a:ea typeface="Calibri"/>
                <a:cs typeface="Calibri"/>
              </a:rPr>
              <a:t>Test shield coverage and intervention limits on broader simulated disturbance cases.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5E69424-424B-4C18-9972-11A21D7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3611880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6BC202-EFD9-4CD2-A89E-11E1B60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04</a:t>
            </a:r>
            <a:endParaRPr sz="2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01EB95-CE79-4B85-8AAC-0CD231B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10328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E3A"/>
                </a:solidFill>
                <a:latin typeface="Calibri"/>
                <a:ea typeface="Calibri"/>
                <a:cs typeface="Calibri"/>
              </a:rPr>
              <a:t>Broader evaluation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59ACB3D-331B-431C-926E-9721DB29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Evaluate across vehicle parameters, climates and a larger held-out scenario set.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59873E-A238-4EEE-8A9B-4CD611A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251960"/>
            <a:ext cx="3611880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502D8E9-8C6E-49DE-A736-41B69E0C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348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05</a:t>
            </a:r>
            <a:endParaRPr sz="2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B5E327E-E858-422C-A6DB-A88E201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910328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E3A"/>
                </a:solidFill>
                <a:latin typeface="Calibri"/>
                <a:ea typeface="Calibri"/>
                <a:cs typeface="Calibri"/>
              </a:rPr>
              <a:t>Target ECU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F7532D0-552C-4659-8A33-A790D4D3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48640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Benchmark the exported policy on a representative automotive compute target.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AD64440-C560-42C5-A4FE-DD654E9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251960"/>
            <a:ext cx="3611880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6E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D373B53-1076-4018-ACE9-E5D98616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4348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06</a:t>
            </a:r>
            <a:endParaRPr sz="2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3E45936-0C5B-4837-A6FC-102EDD30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10328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2E3A"/>
                </a:solidFill>
                <a:latin typeface="Calibri"/>
                <a:ea typeface="Calibri"/>
                <a:cs typeface="Calibri"/>
              </a:rPr>
              <a:t>Result traceability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D46D72-4DD3-4010-8CA3-EADCDBCF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>
                <a:solidFill>
                  <a:srgbClr val="13262B"/>
                </a:solidFill>
                <a:latin typeface="Calibri"/>
                <a:ea typeface="Calibri"/>
                <a:cs typeface="Calibri"/>
              </a:rPr>
              <a:t>Keep every report and slide number linked to a file under report/results.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641AC1A-BBDC-4DBE-9AB7-896862FD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B7480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91411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D0D57A-FD63-4AB5-89D3-BB8B3E6D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29184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2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F57010B-2A3B-47C4-B435-F875485D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5920" y="-164592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18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B00DCC-D27F-4885-A9F9-7786F5E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7315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070C65D-E9AD-4F14-A421-E717C3D9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4743B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8F8856E-63A7-4054-B4D9-13AE28BA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2377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C729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40035C-C34D-474D-B8CC-6FB299B5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CFE6EC"/>
                </a:solidFill>
                <a:latin typeface="Calibri"/>
                <a:ea typeface="Calibri"/>
                <a:cs typeface="Calibri"/>
              </a:rPr>
              <a:t>RL-Based Dynamic Battery Thermal Management for Software Defined Electric Vehicles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8CD0FD-7381-473D-AAF5-C0583B1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>
                <a:solidFill>
                  <a:srgbClr val="8FAAB3"/>
                </a:solidFill>
                <a:latin typeface="Calibri"/>
                <a:ea typeface="Calibri"/>
                <a:cs typeface="Calibri"/>
              </a:rPr>
              <a:t>Rishuraj Singh  •  Nihaal Sansanwal  •  Harshit Parmar  •  Chaitanya Sharma</a:t>
            </a:r>
            <a:endParaRPr sz="1250"/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>
                <a:solidFill>
                  <a:srgbClr val="8FAAB3"/>
                </a:solidFill>
                <a:latin typeface="Calibri"/>
                <a:ea typeface="Calibri"/>
                <a:cs typeface="Calibri"/>
              </a:rPr>
              <a:t>Guide: Dr. Pranav Srivastava  —  IILM University, Greater Noida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531372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2026-09-08T08:33:48.0120000Z</dcterms:created>
  <dcterms:modified xsi:type="dcterms:W3CDTF">2026-09-08T08:33:48.0120000Z</dcterms:modified>
</coreProperties>
</file>